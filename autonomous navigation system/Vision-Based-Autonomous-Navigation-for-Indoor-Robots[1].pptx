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14"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Corben" panose="020B0604020202020204" charset="0"/>
      <p:regular r:id="rId11"/>
    </p:embeddedFont>
    <p:embeddedFont>
      <p:font typeface="Nobile" panose="020B0604020202020204" charset="0"/>
      <p:regular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na Yaswanth" userId="6403d24ca9083b1a" providerId="LiveId" clId="{7F59A240-1804-4EA0-AA16-D5488D8F74D9}"/>
    <pc:docChg chg="custSel delSld modSld">
      <pc:chgData name="Chenna Yaswanth" userId="6403d24ca9083b1a" providerId="LiveId" clId="{7F59A240-1804-4EA0-AA16-D5488D8F74D9}" dt="2025-04-28T09:00:22.087" v="2" actId="478"/>
      <pc:docMkLst>
        <pc:docMk/>
      </pc:docMkLst>
      <pc:sldChg chg="delSp mod">
        <pc:chgData name="Chenna Yaswanth" userId="6403d24ca9083b1a" providerId="LiveId" clId="{7F59A240-1804-4EA0-AA16-D5488D8F74D9}" dt="2025-04-28T09:00:22.087" v="2" actId="478"/>
        <pc:sldMkLst>
          <pc:docMk/>
          <pc:sldMk cId="0" sldId="256"/>
        </pc:sldMkLst>
        <pc:spChg chg="del">
          <ac:chgData name="Chenna Yaswanth" userId="6403d24ca9083b1a" providerId="LiveId" clId="{7F59A240-1804-4EA0-AA16-D5488D8F74D9}" dt="2025-04-28T09:00:22.087" v="2" actId="478"/>
          <ac:spMkLst>
            <pc:docMk/>
            <pc:sldMk cId="0" sldId="256"/>
            <ac:spMk id="5" creationId="{00000000-0000-0000-0000-000000000000}"/>
          </ac:spMkLst>
        </pc:spChg>
      </pc:sldChg>
      <pc:sldChg chg="del">
        <pc:chgData name="Chenna Yaswanth" userId="6403d24ca9083b1a" providerId="LiveId" clId="{7F59A240-1804-4EA0-AA16-D5488D8F74D9}" dt="2025-04-24T10:05:18.080" v="1" actId="2696"/>
        <pc:sldMkLst>
          <pc:docMk/>
          <pc:sldMk cId="0" sldId="264"/>
        </pc:sldMkLst>
      </pc:sldChg>
      <pc:sldChg chg="del">
        <pc:chgData name="Chenna Yaswanth" userId="6403d24ca9083b1a" providerId="LiveId" clId="{7F59A240-1804-4EA0-AA16-D5488D8F74D9}" dt="2025-04-24T10:04:45.119" v="0" actId="2696"/>
        <pc:sldMkLst>
          <pc:docMk/>
          <pc:sldMk cId="0" sldId="265"/>
        </pc:sldMkLst>
      </pc:sldChg>
      <pc:sldMasterChg chg="delSldLayout">
        <pc:chgData name="Chenna Yaswanth" userId="6403d24ca9083b1a" providerId="LiveId" clId="{7F59A240-1804-4EA0-AA16-D5488D8F74D9}" dt="2025-04-24T10:05:18.080" v="1" actId="2696"/>
        <pc:sldMasterMkLst>
          <pc:docMk/>
          <pc:sldMasterMk cId="188528230" sldId="2147483714"/>
        </pc:sldMasterMkLst>
        <pc:sldLayoutChg chg="del">
          <pc:chgData name="Chenna Yaswanth" userId="6403d24ca9083b1a" providerId="LiveId" clId="{7F59A240-1804-4EA0-AA16-D5488D8F74D9}" dt="2025-04-24T10:05:18.080" v="1" actId="2696"/>
          <pc:sldLayoutMkLst>
            <pc:docMk/>
            <pc:sldMasterMk cId="188528230" sldId="2147483714"/>
            <pc:sldLayoutMk cId="3665013030" sldId="2147483734"/>
          </pc:sldLayoutMkLst>
        </pc:sldLayoutChg>
        <pc:sldLayoutChg chg="del">
          <pc:chgData name="Chenna Yaswanth" userId="6403d24ca9083b1a" providerId="LiveId" clId="{7F59A240-1804-4EA0-AA16-D5488D8F74D9}" dt="2025-04-24T10:04:45.119" v="0" actId="2696"/>
          <pc:sldLayoutMkLst>
            <pc:docMk/>
            <pc:sldMasterMk cId="188528230" sldId="2147483714"/>
            <pc:sldLayoutMk cId="1556249954" sldId="214748373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763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1161265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27329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120949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1283905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63666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33230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175925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6400009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837443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53592007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343927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201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714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5483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808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39431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4333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4758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8928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61BEF0D-F0BB-DE4B-95CE-6DB70DBA9567}" type="datetimeFigureOut">
              <a:rPr lang="en-US" smtClean="0"/>
              <a:pPr/>
              <a:t>4/28/2025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52823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209562"/>
            <a:ext cx="7556421" cy="2126337"/>
          </a:xfrm>
          <a:prstGeom prst="rect">
            <a:avLst/>
          </a:prstGeom>
          <a:noFill/>
          <a:ln/>
        </p:spPr>
        <p:txBody>
          <a:bodyPr wrap="square" lIns="0" tIns="0" rIns="0" bIns="0" rtlCol="0" anchor="t"/>
          <a:lstStyle/>
          <a:p>
            <a:r>
              <a:rPr lang="en-US" sz="4800" dirty="0"/>
              <a:t>Autonomous Navigation in Indoor Environments</a:t>
            </a:r>
          </a:p>
        </p:txBody>
      </p:sp>
      <p:sp>
        <p:nvSpPr>
          <p:cNvPr id="4" name="Text 1"/>
          <p:cNvSpPr/>
          <p:nvPr/>
        </p:nvSpPr>
        <p:spPr>
          <a:xfrm>
            <a:off x="793790" y="4676061"/>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9884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Introduction</a:t>
            </a:r>
            <a:endParaRPr lang="en-US" sz="4450" dirty="0"/>
          </a:p>
        </p:txBody>
      </p:sp>
      <p:sp>
        <p:nvSpPr>
          <p:cNvPr id="3" name="Text 1"/>
          <p:cNvSpPr/>
          <p:nvPr/>
        </p:nvSpPr>
        <p:spPr>
          <a:xfrm>
            <a:off x="793790" y="2451854"/>
            <a:ext cx="6244709"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4" name="Text 2"/>
          <p:cNvSpPr/>
          <p:nvPr/>
        </p:nvSpPr>
        <p:spPr>
          <a:xfrm>
            <a:off x="793790" y="3381732"/>
            <a:ext cx="6244709" cy="362903"/>
          </a:xfrm>
          <a:prstGeom prst="rect">
            <a:avLst/>
          </a:prstGeom>
          <a:noFill/>
          <a:ln/>
        </p:spPr>
        <p:txBody>
          <a:bodyPr wrap="none" lIns="0" tIns="0" rIns="0" bIns="0" rtlCol="0" anchor="t"/>
          <a:lstStyle/>
          <a:p>
            <a:pPr marL="0" indent="0" algn="l">
              <a:lnSpc>
                <a:spcPts val="2850"/>
              </a:lnSpc>
              <a:buNone/>
            </a:pPr>
            <a:r>
              <a:rPr lang="en-US" sz="1750">
                <a:solidFill>
                  <a:srgbClr val="404155"/>
                </a:solidFill>
                <a:latin typeface="Nobile" pitchFamily="34" charset="0"/>
                <a:ea typeface="Nobile" pitchFamily="34" charset="-122"/>
                <a:cs typeface="Nobile" pitchFamily="34" charset="-120"/>
              </a:rPr>
              <a:t>.</a:t>
            </a:r>
            <a:endParaRPr lang="en-US" sz="1750" dirty="0"/>
          </a:p>
        </p:txBody>
      </p:sp>
      <p:sp>
        <p:nvSpPr>
          <p:cNvPr id="5" name="Text 3"/>
          <p:cNvSpPr/>
          <p:nvPr/>
        </p:nvSpPr>
        <p:spPr>
          <a:xfrm>
            <a:off x="793790" y="3948708"/>
            <a:ext cx="6244709" cy="725805"/>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6" name="Image 0" descr="preencoded.png"/>
          <p:cNvPicPr>
            <a:picLocks noChangeAspect="1"/>
          </p:cNvPicPr>
          <p:nvPr/>
        </p:nvPicPr>
        <p:blipFill>
          <a:blip r:embed="rId3"/>
          <a:stretch>
            <a:fillRect/>
          </a:stretch>
        </p:blipFill>
        <p:spPr>
          <a:xfrm>
            <a:off x="7599521" y="2502932"/>
            <a:ext cx="6244709" cy="4272677"/>
          </a:xfrm>
          <a:prstGeom prst="rect">
            <a:avLst/>
          </a:prstGeom>
        </p:spPr>
      </p:pic>
      <p:sp>
        <p:nvSpPr>
          <p:cNvPr id="8" name="TextBox 7">
            <a:extLst>
              <a:ext uri="{FF2B5EF4-FFF2-40B4-BE49-F238E27FC236}">
                <a16:creationId xmlns:a16="http://schemas.microsoft.com/office/drawing/2014/main" id="{413F328A-067D-CD91-59A2-16EACC2E7328}"/>
              </a:ext>
            </a:extLst>
          </p:cNvPr>
          <p:cNvSpPr txBox="1"/>
          <p:nvPr/>
        </p:nvSpPr>
        <p:spPr>
          <a:xfrm>
            <a:off x="284321" y="2466619"/>
            <a:ext cx="6180059" cy="3785652"/>
          </a:xfrm>
          <a:prstGeom prst="rect">
            <a:avLst/>
          </a:prstGeom>
          <a:noFill/>
        </p:spPr>
        <p:txBody>
          <a:bodyPr wrap="square">
            <a:spAutoFit/>
          </a:bodyPr>
          <a:lstStyle/>
          <a:p>
            <a:r>
              <a:rPr lang="en-US" sz="2000" dirty="0"/>
              <a:t>Autonomous robots are revolutionizing industries by enhancing efficiency across diverse sectors, yet navigating complex indoor environments remains a significant challenge. This project addresses these indoor navigation hurdles by developing a robust vision-based system. The goal is to empower robots to move autonomously through homes, offices, and warehouses, overcoming obstacles like furniture with precision. By leveraging advanced AI and computer vision technologies, the system aims to provide a reliable, cost-effective solution, paving the way for safer and smarter robotic applications in everyday life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12157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Objectives</a:t>
            </a:r>
            <a:endParaRPr lang="en-US" sz="4450" dirty="0"/>
          </a:p>
        </p:txBody>
      </p:sp>
      <p:sp>
        <p:nvSpPr>
          <p:cNvPr id="4" name="Shape 1"/>
          <p:cNvSpPr/>
          <p:nvPr/>
        </p:nvSpPr>
        <p:spPr>
          <a:xfrm>
            <a:off x="779166" y="4113376"/>
            <a:ext cx="510302" cy="510302"/>
          </a:xfrm>
          <a:prstGeom prst="roundRect">
            <a:avLst>
              <a:gd name="adj" fmla="val 18669"/>
            </a:avLst>
          </a:prstGeom>
          <a:solidFill>
            <a:srgbClr val="D2D9F9"/>
          </a:solidFill>
          <a:ln w="7620">
            <a:solidFill>
              <a:srgbClr val="B8BFDF"/>
            </a:solidFill>
            <a:prstDash val="solid"/>
          </a:ln>
        </p:spPr>
        <p:txBody>
          <a:bodyPr/>
          <a:lstStyle/>
          <a:p>
            <a:endParaRPr lang="en-US"/>
          </a:p>
        </p:txBody>
      </p:sp>
      <p:sp>
        <p:nvSpPr>
          <p:cNvPr id="5" name="Text 2"/>
          <p:cNvSpPr/>
          <p:nvPr/>
        </p:nvSpPr>
        <p:spPr>
          <a:xfrm>
            <a:off x="905035" y="4295061"/>
            <a:ext cx="258564" cy="311824"/>
          </a:xfrm>
          <a:prstGeom prst="rect">
            <a:avLst/>
          </a:prstGeom>
          <a:noFill/>
          <a:ln/>
        </p:spPr>
        <p:txBody>
          <a:bodyPr wrap="none" lIns="0" tIns="0" rIns="0" bIns="0" rtlCol="0" anchor="t"/>
          <a:lstStyle/>
          <a:p>
            <a:pPr marL="0" indent="0" algn="ctr">
              <a:lnSpc>
                <a:spcPts val="2650"/>
              </a:lnSpc>
              <a:buNone/>
            </a:pPr>
            <a:r>
              <a:rPr lang="en-US" sz="2650" dirty="0">
                <a:solidFill>
                  <a:srgbClr val="404155"/>
                </a:solidFill>
                <a:latin typeface="Corben" pitchFamily="34" charset="0"/>
                <a:ea typeface="Corben" pitchFamily="34" charset="-122"/>
                <a:cs typeface="Corben" pitchFamily="34" charset="-120"/>
              </a:rPr>
              <a:t>1</a:t>
            </a:r>
            <a:endParaRPr lang="en-US" sz="2650" dirty="0"/>
          </a:p>
        </p:txBody>
      </p:sp>
      <p:sp>
        <p:nvSpPr>
          <p:cNvPr id="6" name="Text 3"/>
          <p:cNvSpPr/>
          <p:nvPr/>
        </p:nvSpPr>
        <p:spPr>
          <a:xfrm>
            <a:off x="1490672" y="42738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Object Detection</a:t>
            </a:r>
            <a:endParaRPr lang="en-US" sz="2200" dirty="0"/>
          </a:p>
        </p:txBody>
      </p:sp>
      <p:sp>
        <p:nvSpPr>
          <p:cNvPr id="7" name="Text 4"/>
          <p:cNvSpPr/>
          <p:nvPr/>
        </p:nvSpPr>
        <p:spPr>
          <a:xfrm>
            <a:off x="1430546" y="4817774"/>
            <a:ext cx="3459242" cy="1727991"/>
          </a:xfrm>
          <a:prstGeom prst="rect">
            <a:avLst/>
          </a:prstGeom>
          <a:noFill/>
          <a:ln/>
        </p:spPr>
        <p:txBody>
          <a:bodyPr wrap="square" lIns="0" tIns="0" rIns="0" bIns="0" rtlCol="0" anchor="t"/>
          <a:lstStyle/>
          <a:p>
            <a:r>
              <a:rPr lang="en-US" sz="2000" dirty="0"/>
              <a:t>Accurately identify and classify objects within the indoor environment using advanced computer vision techniques. This involves detecting diverse obstacles and landmarks in real time to support safe navigation and interaction by the autonomous robot.</a:t>
            </a:r>
          </a:p>
        </p:txBody>
      </p:sp>
      <p:sp>
        <p:nvSpPr>
          <p:cNvPr id="8" name="Shape 5"/>
          <p:cNvSpPr/>
          <p:nvPr/>
        </p:nvSpPr>
        <p:spPr>
          <a:xfrm>
            <a:off x="5209627" y="4113376"/>
            <a:ext cx="510302" cy="510302"/>
          </a:xfrm>
          <a:prstGeom prst="roundRect">
            <a:avLst>
              <a:gd name="adj" fmla="val 18669"/>
            </a:avLst>
          </a:prstGeom>
          <a:solidFill>
            <a:srgbClr val="D2D9F9"/>
          </a:solidFill>
          <a:ln w="7620">
            <a:solidFill>
              <a:srgbClr val="B8BFDF"/>
            </a:solidFill>
            <a:prstDash val="solid"/>
          </a:ln>
        </p:spPr>
        <p:txBody>
          <a:bodyPr/>
          <a:lstStyle/>
          <a:p>
            <a:endParaRPr lang="en-US"/>
          </a:p>
        </p:txBody>
      </p:sp>
      <p:sp>
        <p:nvSpPr>
          <p:cNvPr id="9" name="Text 6"/>
          <p:cNvSpPr/>
          <p:nvPr/>
        </p:nvSpPr>
        <p:spPr>
          <a:xfrm>
            <a:off x="5294697" y="426607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404155"/>
                </a:solidFill>
                <a:latin typeface="Corben" pitchFamily="34" charset="0"/>
                <a:ea typeface="Corben" pitchFamily="34" charset="-122"/>
                <a:cs typeface="Corben" pitchFamily="34" charset="-120"/>
              </a:rPr>
              <a:t>2</a:t>
            </a:r>
            <a:endParaRPr lang="en-US" sz="2650" dirty="0"/>
          </a:p>
        </p:txBody>
      </p:sp>
      <p:sp>
        <p:nvSpPr>
          <p:cNvPr id="10" name="Text 7"/>
          <p:cNvSpPr/>
          <p:nvPr/>
        </p:nvSpPr>
        <p:spPr>
          <a:xfrm>
            <a:off x="5954078" y="42738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Mapping</a:t>
            </a:r>
            <a:endParaRPr lang="en-US" sz="2200" dirty="0"/>
          </a:p>
        </p:txBody>
      </p:sp>
      <p:sp>
        <p:nvSpPr>
          <p:cNvPr id="11" name="Text 8"/>
          <p:cNvSpPr/>
          <p:nvPr/>
        </p:nvSpPr>
        <p:spPr>
          <a:xfrm>
            <a:off x="5954078" y="4817774"/>
            <a:ext cx="3459242" cy="1965106"/>
          </a:xfrm>
          <a:prstGeom prst="rect">
            <a:avLst/>
          </a:prstGeom>
          <a:noFill/>
          <a:ln/>
        </p:spPr>
        <p:txBody>
          <a:bodyPr wrap="square" lIns="0" tIns="0" rIns="0" bIns="0" rtlCol="0" anchor="t"/>
          <a:lstStyle/>
          <a:p>
            <a:r>
              <a:rPr lang="en-US" sz="2000" dirty="0"/>
              <a:t>Create a detailed and up-to-date map of the indoor environment by integrating sensor data and visual information. This map will enable the robot to understand spatial layouts and dynamically update its environment representation as it navigates.</a:t>
            </a:r>
          </a:p>
        </p:txBody>
      </p:sp>
      <p:sp>
        <p:nvSpPr>
          <p:cNvPr id="12" name="Shape 9"/>
          <p:cNvSpPr/>
          <p:nvPr/>
        </p:nvSpPr>
        <p:spPr>
          <a:xfrm>
            <a:off x="9470053" y="4112731"/>
            <a:ext cx="510302" cy="510302"/>
          </a:xfrm>
          <a:prstGeom prst="roundRect">
            <a:avLst>
              <a:gd name="adj" fmla="val 18669"/>
            </a:avLst>
          </a:prstGeom>
          <a:solidFill>
            <a:srgbClr val="D2D9F9"/>
          </a:solidFill>
          <a:ln w="7620">
            <a:solidFill>
              <a:srgbClr val="B8BFDF"/>
            </a:solidFill>
            <a:prstDash val="solid"/>
          </a:ln>
        </p:spPr>
        <p:txBody>
          <a:bodyPr/>
          <a:lstStyle/>
          <a:p>
            <a:endParaRPr lang="en-US"/>
          </a:p>
        </p:txBody>
      </p:sp>
      <p:sp>
        <p:nvSpPr>
          <p:cNvPr id="13" name="Text 10"/>
          <p:cNvSpPr/>
          <p:nvPr/>
        </p:nvSpPr>
        <p:spPr>
          <a:xfrm>
            <a:off x="9555123" y="4295061"/>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404155"/>
                </a:solidFill>
                <a:latin typeface="Corben" pitchFamily="34" charset="0"/>
                <a:ea typeface="Corben" pitchFamily="34" charset="-122"/>
                <a:cs typeface="Corben" pitchFamily="34" charset="-120"/>
              </a:rPr>
              <a:t>3</a:t>
            </a:r>
            <a:endParaRPr lang="en-US" sz="2650" dirty="0"/>
          </a:p>
        </p:txBody>
      </p:sp>
      <p:sp>
        <p:nvSpPr>
          <p:cNvPr id="14" name="Text 11"/>
          <p:cNvSpPr/>
          <p:nvPr/>
        </p:nvSpPr>
        <p:spPr>
          <a:xfrm>
            <a:off x="10377249" y="426607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Path Planning</a:t>
            </a:r>
            <a:endParaRPr lang="en-US" sz="2200" dirty="0"/>
          </a:p>
        </p:txBody>
      </p:sp>
      <p:sp>
        <p:nvSpPr>
          <p:cNvPr id="15" name="Text 12"/>
          <p:cNvSpPr/>
          <p:nvPr/>
        </p:nvSpPr>
        <p:spPr>
          <a:xfrm>
            <a:off x="10356307" y="4720352"/>
            <a:ext cx="3459242" cy="2062528"/>
          </a:xfrm>
          <a:prstGeom prst="rect">
            <a:avLst/>
          </a:prstGeom>
          <a:noFill/>
          <a:ln/>
        </p:spPr>
        <p:txBody>
          <a:bodyPr wrap="square" lIns="0" tIns="0" rIns="0" bIns="0" rtlCol="0" anchor="t"/>
          <a:lstStyle/>
          <a:p>
            <a:r>
              <a:rPr lang="en-US" sz="2000" dirty="0"/>
              <a:t>Design an optimal and efficient path for autonomous navigation that considers obstacles, robot dynamics, and environmental changes. The goal is to generate safe, collision-free trajectories that allow the robot to reach its destination with minimal time and energy expenditure.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1526" y="614720"/>
            <a:ext cx="5582722" cy="697825"/>
          </a:xfrm>
          <a:prstGeom prst="rect">
            <a:avLst/>
          </a:prstGeom>
          <a:noFill/>
          <a:ln/>
        </p:spPr>
        <p:txBody>
          <a:bodyPr wrap="none" lIns="0" tIns="0" rIns="0" bIns="0" rtlCol="0" anchor="t"/>
          <a:lstStyle/>
          <a:p>
            <a:pPr marL="0" indent="0" algn="l">
              <a:lnSpc>
                <a:spcPts val="5450"/>
              </a:lnSpc>
              <a:buNone/>
            </a:pPr>
            <a:r>
              <a:rPr lang="en-US" sz="4350" dirty="0">
                <a:solidFill>
                  <a:srgbClr val="1B1B27"/>
                </a:solidFill>
                <a:latin typeface="Corben" pitchFamily="34" charset="0"/>
                <a:ea typeface="Corben" pitchFamily="34" charset="-122"/>
                <a:cs typeface="Corben" pitchFamily="34" charset="-120"/>
              </a:rPr>
              <a:t>Methodology</a:t>
            </a:r>
            <a:endParaRPr lang="en-US" sz="4350" dirty="0"/>
          </a:p>
        </p:txBody>
      </p:sp>
      <p:pic>
        <p:nvPicPr>
          <p:cNvPr id="4" name="Image 1" descr="preencoded.png"/>
          <p:cNvPicPr>
            <a:picLocks noChangeAspect="1"/>
          </p:cNvPicPr>
          <p:nvPr/>
        </p:nvPicPr>
        <p:blipFill>
          <a:blip r:embed="rId4"/>
          <a:stretch>
            <a:fillRect/>
          </a:stretch>
        </p:blipFill>
        <p:spPr>
          <a:xfrm>
            <a:off x="781526" y="1647468"/>
            <a:ext cx="1116449" cy="1643896"/>
          </a:xfrm>
          <a:prstGeom prst="rect">
            <a:avLst/>
          </a:prstGeom>
        </p:spPr>
      </p:pic>
      <p:sp>
        <p:nvSpPr>
          <p:cNvPr id="5" name="Text 1"/>
          <p:cNvSpPr/>
          <p:nvPr/>
        </p:nvSpPr>
        <p:spPr>
          <a:xfrm>
            <a:off x="2232898" y="1870710"/>
            <a:ext cx="2791301" cy="34885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Dataset Upload</a:t>
            </a:r>
            <a:endParaRPr lang="en-US" sz="2150" dirty="0"/>
          </a:p>
        </p:txBody>
      </p:sp>
      <p:sp>
        <p:nvSpPr>
          <p:cNvPr id="6" name="Text 2"/>
          <p:cNvSpPr/>
          <p:nvPr/>
        </p:nvSpPr>
        <p:spPr>
          <a:xfrm>
            <a:off x="2232898" y="2353508"/>
            <a:ext cx="6129576" cy="714613"/>
          </a:xfrm>
          <a:prstGeom prst="rect">
            <a:avLst/>
          </a:prstGeom>
          <a:noFill/>
          <a:ln/>
        </p:spPr>
        <p:txBody>
          <a:bodyPr wrap="square" lIns="0" tIns="0" rIns="0" bIns="0" rtlCol="0" anchor="t"/>
          <a:lstStyle/>
          <a:p>
            <a:pPr marL="0" indent="0" algn="l">
              <a:lnSpc>
                <a:spcPts val="2800"/>
              </a:lnSpc>
              <a:buNone/>
            </a:pPr>
            <a:r>
              <a:rPr lang="en-US" sz="1750" dirty="0">
                <a:solidFill>
                  <a:srgbClr val="404155"/>
                </a:solidFill>
                <a:latin typeface="Nobile" pitchFamily="34" charset="0"/>
                <a:ea typeface="Nobile" pitchFamily="34" charset="-122"/>
                <a:cs typeface="Nobile" pitchFamily="34" charset="-120"/>
              </a:rPr>
              <a:t>Upload the data of images of the environment to the system.</a:t>
            </a:r>
            <a:endParaRPr lang="en-US" sz="1750" dirty="0"/>
          </a:p>
        </p:txBody>
      </p:sp>
      <p:pic>
        <p:nvPicPr>
          <p:cNvPr id="7" name="Image 2" descr="preencoded.png"/>
          <p:cNvPicPr>
            <a:picLocks noChangeAspect="1"/>
          </p:cNvPicPr>
          <p:nvPr/>
        </p:nvPicPr>
        <p:blipFill>
          <a:blip r:embed="rId5"/>
          <a:stretch>
            <a:fillRect/>
          </a:stretch>
        </p:blipFill>
        <p:spPr>
          <a:xfrm>
            <a:off x="781526" y="3291364"/>
            <a:ext cx="1116449" cy="1339810"/>
          </a:xfrm>
          <a:prstGeom prst="rect">
            <a:avLst/>
          </a:prstGeom>
        </p:spPr>
      </p:pic>
      <p:sp>
        <p:nvSpPr>
          <p:cNvPr id="8" name="Text 3"/>
          <p:cNvSpPr/>
          <p:nvPr/>
        </p:nvSpPr>
        <p:spPr>
          <a:xfrm>
            <a:off x="2232898" y="3514606"/>
            <a:ext cx="2791301" cy="34885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Preprocessing</a:t>
            </a:r>
            <a:endParaRPr lang="en-US" sz="2150" dirty="0"/>
          </a:p>
        </p:txBody>
      </p:sp>
      <p:sp>
        <p:nvSpPr>
          <p:cNvPr id="9" name="Text 4"/>
          <p:cNvSpPr/>
          <p:nvPr/>
        </p:nvSpPr>
        <p:spPr>
          <a:xfrm>
            <a:off x="2232898" y="3997404"/>
            <a:ext cx="6129576" cy="357307"/>
          </a:xfrm>
          <a:prstGeom prst="rect">
            <a:avLst/>
          </a:prstGeom>
          <a:noFill/>
          <a:ln/>
        </p:spPr>
        <p:txBody>
          <a:bodyPr wrap="none" lIns="0" tIns="0" rIns="0" bIns="0" rtlCol="0" anchor="t"/>
          <a:lstStyle/>
          <a:p>
            <a:pPr marL="0" indent="0" algn="l">
              <a:lnSpc>
                <a:spcPts val="2800"/>
              </a:lnSpc>
              <a:buNone/>
            </a:pPr>
            <a:r>
              <a:rPr lang="en-US" sz="1750" dirty="0">
                <a:solidFill>
                  <a:srgbClr val="404155"/>
                </a:solidFill>
                <a:latin typeface="Nobile" pitchFamily="34" charset="0"/>
                <a:ea typeface="Nobile" pitchFamily="34" charset="-122"/>
                <a:cs typeface="Nobile" pitchFamily="34" charset="-120"/>
              </a:rPr>
              <a:t>Enhance image quality for better object detection.</a:t>
            </a:r>
            <a:endParaRPr lang="en-US" sz="1750" dirty="0"/>
          </a:p>
        </p:txBody>
      </p:sp>
      <p:pic>
        <p:nvPicPr>
          <p:cNvPr id="10" name="Image 3" descr="preencoded.png"/>
          <p:cNvPicPr>
            <a:picLocks noChangeAspect="1"/>
          </p:cNvPicPr>
          <p:nvPr/>
        </p:nvPicPr>
        <p:blipFill>
          <a:blip r:embed="rId6"/>
          <a:stretch>
            <a:fillRect/>
          </a:stretch>
        </p:blipFill>
        <p:spPr>
          <a:xfrm>
            <a:off x="781526" y="4631174"/>
            <a:ext cx="1116449" cy="1643896"/>
          </a:xfrm>
          <a:prstGeom prst="rect">
            <a:avLst/>
          </a:prstGeom>
        </p:spPr>
      </p:pic>
      <p:sp>
        <p:nvSpPr>
          <p:cNvPr id="11" name="Text 5"/>
          <p:cNvSpPr/>
          <p:nvPr/>
        </p:nvSpPr>
        <p:spPr>
          <a:xfrm>
            <a:off x="2232898" y="4854416"/>
            <a:ext cx="2791301" cy="34885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YOLO/ORB Usage</a:t>
            </a:r>
            <a:endParaRPr lang="en-US" sz="2150" dirty="0"/>
          </a:p>
        </p:txBody>
      </p:sp>
      <p:sp>
        <p:nvSpPr>
          <p:cNvPr id="12" name="Text 6"/>
          <p:cNvSpPr/>
          <p:nvPr/>
        </p:nvSpPr>
        <p:spPr>
          <a:xfrm>
            <a:off x="2232898" y="5337215"/>
            <a:ext cx="6129576" cy="714613"/>
          </a:xfrm>
          <a:prstGeom prst="rect">
            <a:avLst/>
          </a:prstGeom>
          <a:noFill/>
          <a:ln/>
        </p:spPr>
        <p:txBody>
          <a:bodyPr wrap="square" lIns="0" tIns="0" rIns="0" bIns="0" rtlCol="0" anchor="t"/>
          <a:lstStyle/>
          <a:p>
            <a:pPr marL="0" indent="0" algn="l">
              <a:lnSpc>
                <a:spcPts val="2800"/>
              </a:lnSpc>
              <a:buNone/>
            </a:pPr>
            <a:r>
              <a:rPr lang="en-US" sz="1750" dirty="0">
                <a:solidFill>
                  <a:srgbClr val="404155"/>
                </a:solidFill>
                <a:latin typeface="Nobile" pitchFamily="34" charset="0"/>
                <a:ea typeface="Nobile" pitchFamily="34" charset="-122"/>
                <a:cs typeface="Nobile" pitchFamily="34" charset="-120"/>
              </a:rPr>
              <a:t>Utilize YOLO for object detection and ORB for feature extraction.</a:t>
            </a:r>
            <a:endParaRPr lang="en-US" sz="1750" dirty="0"/>
          </a:p>
        </p:txBody>
      </p:sp>
      <p:pic>
        <p:nvPicPr>
          <p:cNvPr id="13" name="Image 4" descr="preencoded.png"/>
          <p:cNvPicPr>
            <a:picLocks noChangeAspect="1"/>
          </p:cNvPicPr>
          <p:nvPr/>
        </p:nvPicPr>
        <p:blipFill>
          <a:blip r:embed="rId7"/>
          <a:stretch>
            <a:fillRect/>
          </a:stretch>
        </p:blipFill>
        <p:spPr>
          <a:xfrm>
            <a:off x="781526" y="6275070"/>
            <a:ext cx="1116449" cy="1339810"/>
          </a:xfrm>
          <a:prstGeom prst="rect">
            <a:avLst/>
          </a:prstGeom>
        </p:spPr>
      </p:pic>
      <p:sp>
        <p:nvSpPr>
          <p:cNvPr id="14" name="Text 7"/>
          <p:cNvSpPr/>
          <p:nvPr/>
        </p:nvSpPr>
        <p:spPr>
          <a:xfrm>
            <a:off x="2232898" y="6498312"/>
            <a:ext cx="2791301" cy="348853"/>
          </a:xfrm>
          <a:prstGeom prst="rect">
            <a:avLst/>
          </a:prstGeom>
          <a:noFill/>
          <a:ln/>
        </p:spPr>
        <p:txBody>
          <a:bodyPr wrap="none" lIns="0" tIns="0" rIns="0" bIns="0" rtlCol="0" anchor="t"/>
          <a:lstStyle/>
          <a:p>
            <a:pPr marL="0" indent="0" algn="l">
              <a:lnSpc>
                <a:spcPts val="2700"/>
              </a:lnSpc>
              <a:buNone/>
            </a:pPr>
            <a:r>
              <a:rPr lang="en-US" sz="2150" dirty="0">
                <a:solidFill>
                  <a:srgbClr val="404155"/>
                </a:solidFill>
                <a:latin typeface="Corben" pitchFamily="34" charset="0"/>
                <a:ea typeface="Corben" pitchFamily="34" charset="-122"/>
                <a:cs typeface="Corben" pitchFamily="34" charset="-120"/>
              </a:rPr>
              <a:t>Path Design</a:t>
            </a:r>
            <a:endParaRPr lang="en-US" sz="2150" dirty="0"/>
          </a:p>
        </p:txBody>
      </p:sp>
      <p:sp>
        <p:nvSpPr>
          <p:cNvPr id="15" name="Text 8"/>
          <p:cNvSpPr/>
          <p:nvPr/>
        </p:nvSpPr>
        <p:spPr>
          <a:xfrm>
            <a:off x="2232898" y="6981111"/>
            <a:ext cx="6129576" cy="357307"/>
          </a:xfrm>
          <a:prstGeom prst="rect">
            <a:avLst/>
          </a:prstGeom>
          <a:noFill/>
          <a:ln/>
        </p:spPr>
        <p:txBody>
          <a:bodyPr wrap="none" lIns="0" tIns="0" rIns="0" bIns="0" rtlCol="0" anchor="t"/>
          <a:lstStyle/>
          <a:p>
            <a:pPr marL="0" indent="0" algn="l">
              <a:lnSpc>
                <a:spcPts val="2800"/>
              </a:lnSpc>
              <a:buNone/>
            </a:pPr>
            <a:r>
              <a:rPr lang="en-US" sz="1750" dirty="0">
                <a:solidFill>
                  <a:srgbClr val="404155"/>
                </a:solidFill>
                <a:latin typeface="Nobile" pitchFamily="34" charset="0"/>
                <a:ea typeface="Nobile" pitchFamily="34" charset="-122"/>
                <a:cs typeface="Nobile" pitchFamily="34" charset="-120"/>
              </a:rPr>
              <a:t>Plan the most efficient path to avoid obstacles.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218384"/>
            <a:ext cx="6022777"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Tools and Technologies</a:t>
            </a:r>
            <a:endParaRPr lang="en-US" sz="4450" dirty="0"/>
          </a:p>
        </p:txBody>
      </p:sp>
      <p:pic>
        <p:nvPicPr>
          <p:cNvPr id="4" name="Image 1" descr="preencoded.png"/>
          <p:cNvPicPr>
            <a:picLocks noChangeAspect="1"/>
          </p:cNvPicPr>
          <p:nvPr/>
        </p:nvPicPr>
        <p:blipFill>
          <a:blip r:embed="rId4"/>
          <a:stretch>
            <a:fillRect/>
          </a:stretch>
        </p:blipFill>
        <p:spPr>
          <a:xfrm>
            <a:off x="793790" y="5306973"/>
            <a:ext cx="566976" cy="566976"/>
          </a:xfrm>
          <a:prstGeom prst="rect">
            <a:avLst/>
          </a:prstGeom>
        </p:spPr>
      </p:pic>
      <p:sp>
        <p:nvSpPr>
          <p:cNvPr id="5" name="Text 1"/>
          <p:cNvSpPr/>
          <p:nvPr/>
        </p:nvSpPr>
        <p:spPr>
          <a:xfrm>
            <a:off x="1587579" y="5267325"/>
            <a:ext cx="221170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Python</a:t>
            </a:r>
            <a:endParaRPr lang="en-US" sz="2200" dirty="0"/>
          </a:p>
        </p:txBody>
      </p:sp>
      <p:sp>
        <p:nvSpPr>
          <p:cNvPr id="6" name="Text 2"/>
          <p:cNvSpPr/>
          <p:nvPr/>
        </p:nvSpPr>
        <p:spPr>
          <a:xfrm>
            <a:off x="1587579" y="5757743"/>
            <a:ext cx="2211705"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Programming language used for development.</a:t>
            </a:r>
            <a:endParaRPr lang="en-US" sz="1750" dirty="0"/>
          </a:p>
        </p:txBody>
      </p:sp>
      <p:pic>
        <p:nvPicPr>
          <p:cNvPr id="7" name="Image 2" descr="preencoded.png"/>
          <p:cNvPicPr>
            <a:picLocks noChangeAspect="1"/>
          </p:cNvPicPr>
          <p:nvPr/>
        </p:nvPicPr>
        <p:blipFill>
          <a:blip r:embed="rId5"/>
          <a:stretch>
            <a:fillRect/>
          </a:stretch>
        </p:blipFill>
        <p:spPr>
          <a:xfrm>
            <a:off x="4139446" y="5306973"/>
            <a:ext cx="566976" cy="566976"/>
          </a:xfrm>
          <a:prstGeom prst="rect">
            <a:avLst/>
          </a:prstGeom>
        </p:spPr>
      </p:pic>
      <p:sp>
        <p:nvSpPr>
          <p:cNvPr id="8" name="Text 3"/>
          <p:cNvSpPr/>
          <p:nvPr/>
        </p:nvSpPr>
        <p:spPr>
          <a:xfrm>
            <a:off x="4933236" y="5267325"/>
            <a:ext cx="2211824"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Google Colab</a:t>
            </a:r>
            <a:endParaRPr lang="en-US" sz="2200" dirty="0"/>
          </a:p>
        </p:txBody>
      </p:sp>
      <p:sp>
        <p:nvSpPr>
          <p:cNvPr id="9" name="Text 4"/>
          <p:cNvSpPr/>
          <p:nvPr/>
        </p:nvSpPr>
        <p:spPr>
          <a:xfrm>
            <a:off x="4933236" y="5757743"/>
            <a:ext cx="2211824"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Cloud platform for running experiments.</a:t>
            </a:r>
            <a:endParaRPr lang="en-US" sz="1750" dirty="0"/>
          </a:p>
        </p:txBody>
      </p:sp>
      <p:pic>
        <p:nvPicPr>
          <p:cNvPr id="10" name="Image 3" descr="preencoded.png"/>
          <p:cNvPicPr>
            <a:picLocks noChangeAspect="1"/>
          </p:cNvPicPr>
          <p:nvPr/>
        </p:nvPicPr>
        <p:blipFill>
          <a:blip r:embed="rId6"/>
          <a:stretch>
            <a:fillRect/>
          </a:stretch>
        </p:blipFill>
        <p:spPr>
          <a:xfrm>
            <a:off x="7485221" y="5306973"/>
            <a:ext cx="566976" cy="566976"/>
          </a:xfrm>
          <a:prstGeom prst="rect">
            <a:avLst/>
          </a:prstGeom>
        </p:spPr>
      </p:pic>
      <p:sp>
        <p:nvSpPr>
          <p:cNvPr id="11" name="Text 5"/>
          <p:cNvSpPr/>
          <p:nvPr/>
        </p:nvSpPr>
        <p:spPr>
          <a:xfrm>
            <a:off x="8279011" y="5267325"/>
            <a:ext cx="2211824"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OpenCV</a:t>
            </a:r>
            <a:endParaRPr lang="en-US" sz="2200" dirty="0"/>
          </a:p>
        </p:txBody>
      </p:sp>
      <p:sp>
        <p:nvSpPr>
          <p:cNvPr id="12" name="Text 6"/>
          <p:cNvSpPr/>
          <p:nvPr/>
        </p:nvSpPr>
        <p:spPr>
          <a:xfrm>
            <a:off x="8279011" y="5757743"/>
            <a:ext cx="2211824"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Library for computer vision tasks.</a:t>
            </a:r>
            <a:endParaRPr lang="en-US" sz="1750" dirty="0"/>
          </a:p>
        </p:txBody>
      </p:sp>
      <p:pic>
        <p:nvPicPr>
          <p:cNvPr id="13" name="Image 4" descr="preencoded.png"/>
          <p:cNvPicPr>
            <a:picLocks noChangeAspect="1"/>
          </p:cNvPicPr>
          <p:nvPr/>
        </p:nvPicPr>
        <p:blipFill>
          <a:blip r:embed="rId7"/>
          <a:stretch>
            <a:fillRect/>
          </a:stretch>
        </p:blipFill>
        <p:spPr>
          <a:xfrm>
            <a:off x="10830997" y="5306973"/>
            <a:ext cx="566976" cy="566976"/>
          </a:xfrm>
          <a:prstGeom prst="rect">
            <a:avLst/>
          </a:prstGeom>
        </p:spPr>
      </p:pic>
      <p:sp>
        <p:nvSpPr>
          <p:cNvPr id="14" name="Text 7"/>
          <p:cNvSpPr/>
          <p:nvPr/>
        </p:nvSpPr>
        <p:spPr>
          <a:xfrm>
            <a:off x="11624786" y="5267325"/>
            <a:ext cx="2211824"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YOLOv3</a:t>
            </a:r>
            <a:endParaRPr lang="en-US" sz="2200" dirty="0"/>
          </a:p>
        </p:txBody>
      </p:sp>
      <p:sp>
        <p:nvSpPr>
          <p:cNvPr id="15" name="Text 8"/>
          <p:cNvSpPr/>
          <p:nvPr/>
        </p:nvSpPr>
        <p:spPr>
          <a:xfrm>
            <a:off x="11624786" y="5757743"/>
            <a:ext cx="2211824"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Object detection framework.</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4580" y="32827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Results</a:t>
            </a:r>
            <a:endParaRPr lang="en-US" sz="4450" dirty="0"/>
          </a:p>
        </p:txBody>
      </p:sp>
      <p:sp>
        <p:nvSpPr>
          <p:cNvPr id="4" name="Text 1"/>
          <p:cNvSpPr/>
          <p:nvPr/>
        </p:nvSpPr>
        <p:spPr>
          <a:xfrm>
            <a:off x="793790" y="417065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Keypoints</a:t>
            </a:r>
            <a:endParaRPr lang="en-US" sz="2200" dirty="0"/>
          </a:p>
        </p:txBody>
      </p:sp>
      <p:sp>
        <p:nvSpPr>
          <p:cNvPr id="5" name="Text 2"/>
          <p:cNvSpPr/>
          <p:nvPr/>
        </p:nvSpPr>
        <p:spPr>
          <a:xfrm>
            <a:off x="793790" y="4822490"/>
            <a:ext cx="4120753" cy="1656369"/>
          </a:xfrm>
          <a:prstGeom prst="rect">
            <a:avLst/>
          </a:prstGeom>
          <a:noFill/>
          <a:ln/>
        </p:spPr>
        <p:txBody>
          <a:bodyPr wrap="square" lIns="0" tIns="0" rIns="0" bIns="0" rtlCol="0" anchor="t"/>
          <a:lstStyle/>
          <a:p>
            <a:r>
              <a:rPr lang="en-US" sz="2000" dirty="0"/>
              <a:t>Identified key features that are critical for accurate mapping and localization of the robot within the indoor environment. These </a:t>
            </a:r>
            <a:r>
              <a:rPr lang="en-US" sz="2000" dirty="0" err="1"/>
              <a:t>keypoints</a:t>
            </a:r>
            <a:r>
              <a:rPr lang="en-US" sz="2000" dirty="0"/>
              <a:t> help in recognizing distinct landmarks and assist the system in real-time position tracking, improving navigation reliability.</a:t>
            </a:r>
          </a:p>
        </p:txBody>
      </p:sp>
      <p:sp>
        <p:nvSpPr>
          <p:cNvPr id="7" name="Text 3"/>
          <p:cNvSpPr/>
          <p:nvPr/>
        </p:nvSpPr>
        <p:spPr>
          <a:xfrm>
            <a:off x="10585133" y="432977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Paths</a:t>
            </a:r>
            <a:endParaRPr lang="en-US" sz="2200" dirty="0"/>
          </a:p>
        </p:txBody>
      </p:sp>
      <p:sp>
        <p:nvSpPr>
          <p:cNvPr id="8" name="Text 4"/>
          <p:cNvSpPr/>
          <p:nvPr/>
        </p:nvSpPr>
        <p:spPr>
          <a:xfrm>
            <a:off x="10197294" y="4822490"/>
            <a:ext cx="4120872" cy="2063092"/>
          </a:xfrm>
          <a:prstGeom prst="rect">
            <a:avLst/>
          </a:prstGeom>
          <a:noFill/>
          <a:ln/>
        </p:spPr>
        <p:txBody>
          <a:bodyPr wrap="square" lIns="0" tIns="0" rIns="0" bIns="0" rtlCol="0" anchor="t"/>
          <a:lstStyle/>
          <a:p>
            <a:r>
              <a:rPr lang="en-US" sz="2000" dirty="0"/>
              <a:t>Generated efficient and collision-free routes that allow the robot to navigate complex indoor spaces smoothly. The path planning algorithm dynamically adjusts to environmental changes, ensuring optimal travel time and energy consumption.</a:t>
            </a:r>
          </a:p>
        </p:txBody>
      </p:sp>
      <p:sp>
        <p:nvSpPr>
          <p:cNvPr id="10" name="Text 5"/>
          <p:cNvSpPr/>
          <p:nvPr/>
        </p:nvSpPr>
        <p:spPr>
          <a:xfrm>
            <a:off x="5897582" y="41526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Detected Objects</a:t>
            </a:r>
            <a:endParaRPr lang="en-US" sz="2200" dirty="0"/>
          </a:p>
        </p:txBody>
      </p:sp>
      <p:sp>
        <p:nvSpPr>
          <p:cNvPr id="11" name="Text 6"/>
          <p:cNvSpPr/>
          <p:nvPr/>
        </p:nvSpPr>
        <p:spPr>
          <a:xfrm>
            <a:off x="5761853" y="4822489"/>
            <a:ext cx="4120753" cy="1779033"/>
          </a:xfrm>
          <a:prstGeom prst="rect">
            <a:avLst/>
          </a:prstGeom>
          <a:noFill/>
          <a:ln/>
        </p:spPr>
        <p:txBody>
          <a:bodyPr wrap="square" lIns="0" tIns="0" rIns="0" bIns="0" rtlCol="0" anchor="t"/>
          <a:lstStyle/>
          <a:p>
            <a:r>
              <a:rPr lang="en-US" sz="2000" dirty="0"/>
              <a:t>Generated efficient and collision-free routes that allow the robot to navigate complex indoor spaces smoothly. The path planning algorithm dynamically adjusts to environmental changes, ensuring optimal travel time and energy consumption.</a:t>
            </a:r>
          </a:p>
        </p:txBody>
      </p:sp>
      <p:pic>
        <p:nvPicPr>
          <p:cNvPr id="13" name="Picture 12">
            <a:extLst>
              <a:ext uri="{FF2B5EF4-FFF2-40B4-BE49-F238E27FC236}">
                <a16:creationId xmlns:a16="http://schemas.microsoft.com/office/drawing/2014/main" id="{67B1A396-FF57-F972-546D-B674C6745AC6}"/>
              </a:ext>
            </a:extLst>
          </p:cNvPr>
          <p:cNvPicPr>
            <a:picLocks noChangeAspect="1"/>
          </p:cNvPicPr>
          <p:nvPr/>
        </p:nvPicPr>
        <p:blipFill>
          <a:blip r:embed="rId3"/>
          <a:stretch>
            <a:fillRect/>
          </a:stretch>
        </p:blipFill>
        <p:spPr>
          <a:xfrm>
            <a:off x="571856" y="1173145"/>
            <a:ext cx="4326674" cy="2847380"/>
          </a:xfrm>
          <a:prstGeom prst="rect">
            <a:avLst/>
          </a:prstGeom>
        </p:spPr>
      </p:pic>
      <p:pic>
        <p:nvPicPr>
          <p:cNvPr id="15" name="Picture 14">
            <a:extLst>
              <a:ext uri="{FF2B5EF4-FFF2-40B4-BE49-F238E27FC236}">
                <a16:creationId xmlns:a16="http://schemas.microsoft.com/office/drawing/2014/main" id="{778FEC4F-FFCB-A8D4-61B9-B6EB10E48530}"/>
              </a:ext>
            </a:extLst>
          </p:cNvPr>
          <p:cNvPicPr>
            <a:picLocks noChangeAspect="1"/>
          </p:cNvPicPr>
          <p:nvPr/>
        </p:nvPicPr>
        <p:blipFill>
          <a:blip r:embed="rId4"/>
          <a:stretch>
            <a:fillRect/>
          </a:stretch>
        </p:blipFill>
        <p:spPr>
          <a:xfrm>
            <a:off x="5330282" y="1173144"/>
            <a:ext cx="4229459" cy="2847381"/>
          </a:xfrm>
          <a:prstGeom prst="rect">
            <a:avLst/>
          </a:prstGeom>
        </p:spPr>
      </p:pic>
      <p:pic>
        <p:nvPicPr>
          <p:cNvPr id="17" name="Picture 16">
            <a:extLst>
              <a:ext uri="{FF2B5EF4-FFF2-40B4-BE49-F238E27FC236}">
                <a16:creationId xmlns:a16="http://schemas.microsoft.com/office/drawing/2014/main" id="{EBC7A6F2-57B5-4D46-7354-0CAD41339295}"/>
              </a:ext>
            </a:extLst>
          </p:cNvPr>
          <p:cNvPicPr>
            <a:picLocks noChangeAspect="1"/>
          </p:cNvPicPr>
          <p:nvPr/>
        </p:nvPicPr>
        <p:blipFill>
          <a:blip r:embed="rId5"/>
          <a:stretch>
            <a:fillRect/>
          </a:stretch>
        </p:blipFill>
        <p:spPr>
          <a:xfrm>
            <a:off x="9991493" y="1207237"/>
            <a:ext cx="4326673" cy="28473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5197" y="519914"/>
            <a:ext cx="6690003"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Challenges and Solutions</a:t>
            </a:r>
            <a:endParaRPr lang="en-US" sz="4450" dirty="0"/>
          </a:p>
        </p:txBody>
      </p:sp>
      <p:sp>
        <p:nvSpPr>
          <p:cNvPr id="4" name="Text 2"/>
          <p:cNvSpPr/>
          <p:nvPr/>
        </p:nvSpPr>
        <p:spPr>
          <a:xfrm>
            <a:off x="793790" y="4294823"/>
            <a:ext cx="6244709" cy="929878"/>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TextBox 9">
            <a:extLst>
              <a:ext uri="{FF2B5EF4-FFF2-40B4-BE49-F238E27FC236}">
                <a16:creationId xmlns:a16="http://schemas.microsoft.com/office/drawing/2014/main" id="{AAFAD8CF-67ED-12C8-D4A4-956E0BF40E3B}"/>
              </a:ext>
            </a:extLst>
          </p:cNvPr>
          <p:cNvSpPr txBox="1"/>
          <p:nvPr/>
        </p:nvSpPr>
        <p:spPr>
          <a:xfrm>
            <a:off x="1193180" y="1852643"/>
            <a:ext cx="11920654" cy="5170646"/>
          </a:xfrm>
          <a:prstGeom prst="rect">
            <a:avLst/>
          </a:prstGeom>
          <a:noFill/>
        </p:spPr>
        <p:txBody>
          <a:bodyPr wrap="square">
            <a:spAutoFit/>
          </a:bodyPr>
          <a:lstStyle/>
          <a:p>
            <a:pPr>
              <a:buNone/>
            </a:pPr>
            <a:r>
              <a:rPr lang="en-US" sz="2400" b="1" dirty="0"/>
              <a:t>Path Overlap</a:t>
            </a:r>
          </a:p>
          <a:p>
            <a:pPr>
              <a:buNone/>
            </a:pPr>
            <a:r>
              <a:rPr lang="en-US" sz="2400" dirty="0"/>
              <a:t>Challenge: Initial paths generated by the navigation system contained multiple overlapping segments, which led to inefficient movements and increased navigation time for the robot.</a:t>
            </a:r>
          </a:p>
          <a:p>
            <a:pPr>
              <a:buNone/>
            </a:pPr>
            <a:endParaRPr lang="en-US" sz="900" dirty="0"/>
          </a:p>
          <a:p>
            <a:pPr>
              <a:buNone/>
            </a:pPr>
            <a:r>
              <a:rPr lang="en-US" sz="2400" dirty="0"/>
              <a:t>Solution: We implemented advanced path optimization algorithms that analyze and eliminate redundant overlapping segments. This not only ensures smoother navigation but also improves the overall efficiency, reducing time and energy consumption during movement.</a:t>
            </a:r>
          </a:p>
          <a:p>
            <a:pPr>
              <a:buNone/>
            </a:pPr>
            <a:r>
              <a:rPr lang="en-US" sz="2400" b="1" dirty="0"/>
              <a:t>Dynamic Floor Adjustment</a:t>
            </a:r>
          </a:p>
          <a:p>
            <a:pPr>
              <a:buNone/>
            </a:pPr>
            <a:r>
              <a:rPr lang="en-US" sz="2400" dirty="0"/>
              <a:t>Challenge: The robot encountered difficulties when traversing uneven or changing floor surfaces that could compromise stability and navigation accuracy.</a:t>
            </a:r>
          </a:p>
          <a:p>
            <a:pPr>
              <a:buNone/>
            </a:pPr>
            <a:endParaRPr lang="en-US" sz="900" dirty="0"/>
          </a:p>
          <a:p>
            <a:r>
              <a:rPr lang="en-US" sz="2400" dirty="0"/>
              <a:t>Solution: To address this, we integrated sensor fusion techniques combining data from multiple sensors to detect floor variations in real-time. This allows the robot to dynamically adjust its height and balance, maintaining stability and safe navigation across diverse indoor environments.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98395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Conclusion</a:t>
            </a:r>
            <a:endParaRPr lang="en-US" sz="4450" dirty="0"/>
          </a:p>
        </p:txBody>
      </p:sp>
      <p:sp>
        <p:nvSpPr>
          <p:cNvPr id="4" name="Shape 1"/>
          <p:cNvSpPr/>
          <p:nvPr/>
        </p:nvSpPr>
        <p:spPr>
          <a:xfrm>
            <a:off x="793790" y="5032891"/>
            <a:ext cx="4196358" cy="2047994"/>
          </a:xfrm>
          <a:prstGeom prst="roundRect">
            <a:avLst>
              <a:gd name="adj" fmla="val 4652"/>
            </a:avLst>
          </a:prstGeom>
          <a:solidFill>
            <a:srgbClr val="D2D9F9"/>
          </a:solidFill>
          <a:ln w="7620">
            <a:solidFill>
              <a:srgbClr val="B8BFDF"/>
            </a:solidFill>
            <a:prstDash val="solid"/>
          </a:ln>
        </p:spPr>
        <p:txBody>
          <a:bodyPr/>
          <a:lstStyle/>
          <a:p>
            <a:endParaRPr lang="en-US"/>
          </a:p>
        </p:txBody>
      </p:sp>
      <p:sp>
        <p:nvSpPr>
          <p:cNvPr id="5" name="Text 2"/>
          <p:cNvSpPr/>
          <p:nvPr/>
        </p:nvSpPr>
        <p:spPr>
          <a:xfrm>
            <a:off x="1028224" y="52673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Summary</a:t>
            </a:r>
            <a:endParaRPr lang="en-US" sz="2200" dirty="0"/>
          </a:p>
        </p:txBody>
      </p:sp>
      <p:sp>
        <p:nvSpPr>
          <p:cNvPr id="6" name="Text 3"/>
          <p:cNvSpPr/>
          <p:nvPr/>
        </p:nvSpPr>
        <p:spPr>
          <a:xfrm>
            <a:off x="1028224" y="5757743"/>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Successfully developed a vision-based autonomous navigation system.</a:t>
            </a:r>
            <a:endParaRPr lang="en-US" sz="1750" dirty="0"/>
          </a:p>
        </p:txBody>
      </p:sp>
      <p:sp>
        <p:nvSpPr>
          <p:cNvPr id="7" name="Shape 4"/>
          <p:cNvSpPr/>
          <p:nvPr/>
        </p:nvSpPr>
        <p:spPr>
          <a:xfrm>
            <a:off x="5216962" y="5032891"/>
            <a:ext cx="4196358" cy="2047994"/>
          </a:xfrm>
          <a:prstGeom prst="roundRect">
            <a:avLst>
              <a:gd name="adj" fmla="val 4652"/>
            </a:avLst>
          </a:prstGeom>
          <a:solidFill>
            <a:srgbClr val="D2D9F9"/>
          </a:solidFill>
          <a:ln w="7620">
            <a:solidFill>
              <a:srgbClr val="B8BFDF"/>
            </a:solidFill>
            <a:prstDash val="solid"/>
          </a:ln>
        </p:spPr>
        <p:txBody>
          <a:bodyPr/>
          <a:lstStyle/>
          <a:p>
            <a:endParaRPr lang="en-US"/>
          </a:p>
        </p:txBody>
      </p:sp>
      <p:sp>
        <p:nvSpPr>
          <p:cNvPr id="8" name="Text 5"/>
          <p:cNvSpPr/>
          <p:nvPr/>
        </p:nvSpPr>
        <p:spPr>
          <a:xfrm>
            <a:off x="5451396" y="52673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Achievements</a:t>
            </a:r>
            <a:endParaRPr lang="en-US" sz="2200" dirty="0"/>
          </a:p>
        </p:txBody>
      </p:sp>
      <p:sp>
        <p:nvSpPr>
          <p:cNvPr id="9" name="Text 6"/>
          <p:cNvSpPr/>
          <p:nvPr/>
        </p:nvSpPr>
        <p:spPr>
          <a:xfrm>
            <a:off x="5451396" y="5757743"/>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Demonstrated object detection, mapping, and path planning.</a:t>
            </a:r>
            <a:endParaRPr lang="en-US" sz="1750" dirty="0"/>
          </a:p>
        </p:txBody>
      </p:sp>
      <p:sp>
        <p:nvSpPr>
          <p:cNvPr id="10" name="Shape 7"/>
          <p:cNvSpPr/>
          <p:nvPr/>
        </p:nvSpPr>
        <p:spPr>
          <a:xfrm>
            <a:off x="9640133" y="5032891"/>
            <a:ext cx="4196358" cy="2047994"/>
          </a:xfrm>
          <a:prstGeom prst="roundRect">
            <a:avLst>
              <a:gd name="adj" fmla="val 4652"/>
            </a:avLst>
          </a:prstGeom>
          <a:solidFill>
            <a:srgbClr val="D2D9F9"/>
          </a:solidFill>
          <a:ln w="7620">
            <a:solidFill>
              <a:srgbClr val="B8BFDF"/>
            </a:solidFill>
            <a:prstDash val="solid"/>
          </a:ln>
        </p:spPr>
        <p:txBody>
          <a:bodyPr/>
          <a:lstStyle/>
          <a:p>
            <a:endParaRPr lang="en-US"/>
          </a:p>
        </p:txBody>
      </p:sp>
      <p:sp>
        <p:nvSpPr>
          <p:cNvPr id="11" name="Text 8"/>
          <p:cNvSpPr/>
          <p:nvPr/>
        </p:nvSpPr>
        <p:spPr>
          <a:xfrm>
            <a:off x="9874568" y="52673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Future Work</a:t>
            </a:r>
            <a:endParaRPr lang="en-US" sz="2200" dirty="0"/>
          </a:p>
        </p:txBody>
      </p:sp>
      <p:sp>
        <p:nvSpPr>
          <p:cNvPr id="12" name="Text 9"/>
          <p:cNvSpPr/>
          <p:nvPr/>
        </p:nvSpPr>
        <p:spPr>
          <a:xfrm>
            <a:off x="9874568" y="5757743"/>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Improve robustness, explore advanced sensors, and consider real-world deployment.</a:t>
            </a:r>
            <a:endParaRPr lang="en-US" sz="175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62</TotalTime>
  <Words>599</Words>
  <Application>Microsoft Office PowerPoint</Application>
  <PresentationFormat>Custom</PresentationFormat>
  <Paragraphs>63</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 Light</vt:lpstr>
      <vt:lpstr>Arial</vt:lpstr>
      <vt:lpstr>Corben</vt:lpstr>
      <vt:lpstr>Calibri</vt:lpstr>
      <vt:lpstr>Nobile</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Chenna Yaswanth</cp:lastModifiedBy>
  <cp:revision>3</cp:revision>
  <dcterms:created xsi:type="dcterms:W3CDTF">2025-04-16T06:19:12Z</dcterms:created>
  <dcterms:modified xsi:type="dcterms:W3CDTF">2025-04-28T09:00:23Z</dcterms:modified>
</cp:coreProperties>
</file>